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24" r:id="rId4"/>
  </p:sldMasterIdLst>
  <p:notesMasterIdLst>
    <p:notesMasterId r:id="rId20"/>
  </p:notesMasterIdLst>
  <p:handoutMasterIdLst>
    <p:handoutMasterId r:id="rId21"/>
  </p:handoutMasterIdLst>
  <p:sldIdLst>
    <p:sldId id="338" r:id="rId5"/>
    <p:sldId id="327" r:id="rId6"/>
    <p:sldId id="315" r:id="rId7"/>
    <p:sldId id="347" r:id="rId8"/>
    <p:sldId id="329" r:id="rId9"/>
    <p:sldId id="302" r:id="rId10"/>
    <p:sldId id="339" r:id="rId11"/>
    <p:sldId id="340" r:id="rId12"/>
    <p:sldId id="344" r:id="rId13"/>
    <p:sldId id="345" r:id="rId14"/>
    <p:sldId id="346"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67" d="100"/>
          <a:sy n="67" d="100"/>
        </p:scale>
        <p:origin x="56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6477581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6511327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3327241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368889615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410555"/>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4190033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5755104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78475172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1748052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259617714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1137983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332067350"/>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986176016"/>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636401623"/>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4266417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8">
                <a:duotone>
                  <a:schemeClr val="accent1">
                    <a:shade val="45000"/>
                    <a:satMod val="135000"/>
                  </a:schemeClr>
                  <a:prstClr val="white"/>
                </a:duotone>
                <a:extLst>
                  <a:ext uri="{BEBA8EAE-BF5A-486C-A8C5-ECC9F3942E4B}">
                    <a14:imgProps xmlns:a14="http://schemas.microsoft.com/office/drawing/2010/main">
                      <a14:imgLayer r:embed="rId19">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D57F1E4F-1CFF-5643-939E-217C01CDF565}" type="slidenum">
              <a:rPr lang="en-US" smtClean="0"/>
              <a:pPr/>
              <a:t>‹#›</a:t>
            </a:fld>
            <a:endParaRPr lang="en-US" dirty="0"/>
          </a:p>
        </p:txBody>
      </p:sp>
      <p:sp>
        <p:nvSpPr>
          <p:cNvPr id="10" name="Date Placeholder 3">
            <a:extLst>
              <a:ext uri="{FF2B5EF4-FFF2-40B4-BE49-F238E27FC236}">
                <a16:creationId xmlns:a16="http://schemas.microsoft.com/office/drawing/2014/main" id="{8951DB8C-9778-4DC5-934D-F0E770E38D56}"/>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11" name="Footer Placeholder 4">
            <a:extLst>
              <a:ext uri="{FF2B5EF4-FFF2-40B4-BE49-F238E27FC236}">
                <a16:creationId xmlns:a16="http://schemas.microsoft.com/office/drawing/2014/main" id="{B9B5F4E4-F284-4F69-9ABF-1F43C8971A58}"/>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12" name="Slide Number Placeholder 5">
            <a:extLst>
              <a:ext uri="{FF2B5EF4-FFF2-40B4-BE49-F238E27FC236}">
                <a16:creationId xmlns:a16="http://schemas.microsoft.com/office/drawing/2014/main" id="{B609F6BB-05E8-4BF8-B775-BF5F746B33EB}"/>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1262765858"/>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 id="2147484036" r:id="rId12"/>
    <p:sldLayoutId id="2147484037" r:id="rId13"/>
    <p:sldLayoutId id="2147484038" r:id="rId14"/>
    <p:sldLayoutId id="2147484039" r:id="rId15"/>
    <p:sldLayoutId id="2147483690" r:id="rId16"/>
  </p:sldLayoutIdLst>
  <p:hf hdr="0" ftr="0" dt="0"/>
  <p:txStyles>
    <p:titleStyle>
      <a:lvl1pPr algn="l" defTabSz="914400" rtl="0" eaLnBrk="1" latinLnBrk="0" hangingPunct="1">
        <a:lnSpc>
          <a:spcPct val="90000"/>
        </a:lnSpc>
        <a:spcBef>
          <a:spcPct val="0"/>
        </a:spcBef>
        <a:buNone/>
        <a:defRPr sz="5400" kern="1200" cap="all" baseline="0">
          <a:blipFill>
            <a:blip r:embed="rId20">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jfif"/><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jfif"/><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fif"/><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fif"/><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jfif"/><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fif"/><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fif"/><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fif"/><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5.jfif"/><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yojana22-sherpa" TargetMode="External"/><Relationship Id="rId2" Type="http://schemas.openxmlformats.org/officeDocument/2006/relationships/image" Target="../media/image5.jfif"/><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5.jfif"/><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5.jfif"/><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347469" y="1294190"/>
            <a:ext cx="9846761" cy="1533525"/>
          </a:xfrm>
        </p:spPr>
        <p:txBody>
          <a:bodyPr>
            <a:noAutofit/>
          </a:bodyPr>
          <a:lstStyle/>
          <a:p>
            <a:pPr algn="ctr"/>
            <a:r>
              <a:rPr lang="en-GB" sz="4400" b="1" dirty="0">
                <a:latin typeface="Times New Roman" panose="02020603050405020304" pitchFamily="18" charset="0"/>
                <a:cs typeface="Times New Roman" panose="02020603050405020304" pitchFamily="18" charset="0"/>
              </a:rPr>
              <a:t>Project Title –SEASONAL AGRICULTURAL PERFORMANCE ANALYSIS</a:t>
            </a:r>
            <a:endParaRPr lang="en-IN" sz="4400" b="1"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877050" y="2720352"/>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6">
            <a:extLst>
              <a:ext uri="{FF2B5EF4-FFF2-40B4-BE49-F238E27FC236}">
                <a16:creationId xmlns:a16="http://schemas.microsoft.com/office/drawing/2014/main" id="{843E509D-35C5-4B22-8FAC-BCC861B02C7C}"/>
              </a:ext>
            </a:extLst>
          </p:cNvPr>
          <p:cNvSpPr>
            <a:spLocks noGrp="1"/>
          </p:cNvSpPr>
          <p:nvPr>
            <p:ph type="body" sz="quarter" idx="11"/>
          </p:nvPr>
        </p:nvSpPr>
        <p:spPr>
          <a:xfrm>
            <a:off x="4891231" y="4416732"/>
            <a:ext cx="7010399" cy="2042314"/>
          </a:xfrm>
        </p:spPr>
        <p:txBody>
          <a:bodyPr>
            <a:normAutofit/>
          </a:bodyPr>
          <a:lstStyle/>
          <a:p>
            <a:r>
              <a:rPr lang="en-US" dirty="0">
                <a:solidFill>
                  <a:schemeClr val="tx1">
                    <a:lumMod val="95000"/>
                    <a:lumOff val="5000"/>
                  </a:schemeClr>
                </a:solidFill>
                <a:latin typeface="Times New Roman" panose="02020603050405020304" pitchFamily="18" charset="0"/>
                <a:cs typeface="Times New Roman" panose="02020603050405020304" pitchFamily="18" charset="0"/>
              </a:rPr>
              <a:t>STUDENT NAME : YOJANA SHERPA</a:t>
            </a:r>
          </a:p>
          <a:p>
            <a:r>
              <a:rPr lang="en-US" dirty="0">
                <a:solidFill>
                  <a:schemeClr val="tx1">
                    <a:lumMod val="95000"/>
                    <a:lumOff val="5000"/>
                  </a:schemeClr>
                </a:solidFill>
                <a:latin typeface="Times New Roman" panose="02020603050405020304" pitchFamily="18" charset="0"/>
                <a:cs typeface="Times New Roman" panose="02020603050405020304" pitchFamily="18" charset="0"/>
              </a:rPr>
              <a:t>COLLEGE NAME : SIKKIM MANIPAL INSTITUTE OF TECHNOLOGY</a:t>
            </a:r>
          </a:p>
          <a:p>
            <a:r>
              <a:rPr lang="en-US" dirty="0">
                <a:solidFill>
                  <a:schemeClr val="tx1">
                    <a:lumMod val="95000"/>
                    <a:lumOff val="5000"/>
                  </a:schemeClr>
                </a:solidFill>
                <a:latin typeface="Times New Roman" panose="02020603050405020304" pitchFamily="18" charset="0"/>
                <a:cs typeface="Times New Roman" panose="02020603050405020304" pitchFamily="18" charset="0"/>
              </a:rPr>
              <a:t>AICTE STU ID: STU69cb6281b79a31774936705</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383126" y="1041349"/>
            <a:ext cx="7612557" cy="4873676"/>
          </a:xfrm>
        </p:spPr>
        <p:txBody>
          <a:bodyPr vert="horz" lIns="91440" tIns="45720" rIns="91440" bIns="45720" rtlCol="0" anchor="t">
            <a:noAutofit/>
          </a:bodyPr>
          <a:lstStyle/>
          <a:p>
            <a:pPr marL="274320" lvl="1" indent="0" algn="just">
              <a:lnSpc>
                <a:spcPct val="100000"/>
              </a:lnSpc>
              <a:buNone/>
            </a:pPr>
            <a:endParaRPr lang="en-US" dirty="0"/>
          </a:p>
          <a:p>
            <a:pPr marL="274320" lvl="1" indent="0" algn="just">
              <a:lnSpc>
                <a:spcPct val="150000"/>
              </a:lnSpc>
              <a:buNone/>
            </a:pPr>
            <a:r>
              <a:rPr lang="en-US" dirty="0"/>
              <a:t>Agricultural activities are influenced by seasonal variations in environmental conditions, farming practices, resource availability and market conditions. </a:t>
            </a:r>
          </a:p>
          <a:p>
            <a:pPr marL="274320" lvl="1" indent="0" algn="just">
              <a:lnSpc>
                <a:spcPct val="150000"/>
              </a:lnSpc>
              <a:buNone/>
            </a:pPr>
            <a:r>
              <a:rPr lang="en-US" dirty="0"/>
              <a:t>As a result, agricultural performance may differ from one season to another. However, raw agricultural data does not clearly explain how agricultural performance changes across seasons or what patterns can be observed in different seasonal conditions.</a:t>
            </a:r>
          </a:p>
          <a:p>
            <a:pPr marL="274320" lvl="1" indent="0">
              <a:lnSpc>
                <a:spcPct val="150000"/>
              </a:lnSpc>
              <a:buNone/>
            </a:pPr>
            <a:r>
              <a:rPr lang="en-US" dirty="0"/>
              <a:t> The problem is to analyze the given agricultural dataset and investigate seasonal differences in agricultural performance by identifying meaningful patterns, trends, relationships and variations within the available data.                                                                 </a:t>
            </a:r>
            <a:br>
              <a:rPr lang="en-US" dirty="0"/>
            </a:br>
            <a:endParaRPr lang="en-IN"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a:bodyPr>
          <a:lstStyle/>
          <a:p>
            <a:r>
              <a:rPr lang="en-US" sz="4400" dirty="0"/>
              <a:t>PROBLEM  STATEMENT</a:t>
            </a:r>
            <a:endParaRPr lang="en-IN" sz="4400"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itle 6">
            <a:extLst>
              <a:ext uri="{FF2B5EF4-FFF2-40B4-BE49-F238E27FC236}">
                <a16:creationId xmlns:a16="http://schemas.microsoft.com/office/drawing/2014/main" id="{EF3BB6A0-345C-4104-B654-560B4281C441}"/>
              </a:ext>
            </a:extLst>
          </p:cNvPr>
          <p:cNvSpPr>
            <a:spLocks noGrp="1"/>
          </p:cNvSpPr>
          <p:nvPr>
            <p:ph type="title"/>
          </p:nvPr>
        </p:nvSpPr>
        <p:spPr/>
        <p:txBody>
          <a:bodyPr>
            <a:noAutofit/>
          </a:bodyPr>
          <a:lstStyle/>
          <a:p>
            <a:r>
              <a:rPr lang="en-US" sz="4400" dirty="0"/>
              <a:t>Project description</a:t>
            </a:r>
            <a:endParaRPr lang="en-IN" sz="4400" dirty="0"/>
          </a:p>
        </p:txBody>
      </p:sp>
      <p:sp>
        <p:nvSpPr>
          <p:cNvPr id="9" name="TextBox 8">
            <a:extLst>
              <a:ext uri="{FF2B5EF4-FFF2-40B4-BE49-F238E27FC236}">
                <a16:creationId xmlns:a16="http://schemas.microsoft.com/office/drawing/2014/main" id="{ED0FD9A2-638C-4CD6-8D4F-31220BF14DF1}"/>
              </a:ext>
            </a:extLst>
          </p:cNvPr>
          <p:cNvSpPr txBox="1"/>
          <p:nvPr/>
        </p:nvSpPr>
        <p:spPr>
          <a:xfrm>
            <a:off x="738187" y="2026734"/>
            <a:ext cx="10715625" cy="4832092"/>
          </a:xfrm>
          <a:prstGeom prst="rect">
            <a:avLst/>
          </a:prstGeom>
          <a:noFill/>
        </p:spPr>
        <p:txBody>
          <a:bodyPr wrap="square" rtlCol="0">
            <a:spAutoFit/>
          </a:bodyPr>
          <a:lstStyle/>
          <a:p>
            <a:pPr algn="just">
              <a:lnSpc>
                <a:spcPct val="150000"/>
              </a:lnSpc>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Seasonal Agricultural Performance Analysis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 data analytics project implemented in Python using pandas,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numpy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matplotlib, and seaborn to evaluate how seasonal shifts impact farming metrics, resource usage, and crop yields. </a:t>
            </a:r>
          </a:p>
          <a:p>
            <a:pPr algn="just">
              <a:lnSpc>
                <a:spcPct val="150000"/>
              </a:lnSpc>
            </a:pPr>
            <a:r>
              <a:rPr lang="en-IN" sz="3600" b="1" dirty="0">
                <a:latin typeface="Times New Roman" panose="02020603050405020304" pitchFamily="18" charset="0"/>
                <a:cs typeface="Times New Roman" panose="02020603050405020304" pitchFamily="18" charset="0"/>
              </a:rPr>
              <a:t>Project Scope &amp; Architecture</a:t>
            </a:r>
          </a:p>
          <a:p>
            <a:pPr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Dataset:</a:t>
            </a:r>
            <a:r>
              <a:rPr lang="en-IN" dirty="0">
                <a:latin typeface="Times New Roman" panose="02020603050405020304" pitchFamily="18" charset="0"/>
                <a:cs typeface="Times New Roman" panose="02020603050405020304" pitchFamily="18" charset="0"/>
              </a:rPr>
              <a:t> 4,000 farm-level records spanning 28 features, including environmental conditions, operational practices, and financial variables.</a:t>
            </a:r>
          </a:p>
          <a:p>
            <a:pPr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Hygiene:</a:t>
            </a:r>
            <a:r>
              <a:rPr lang="en-IN" dirty="0">
                <a:latin typeface="Times New Roman" panose="02020603050405020304" pitchFamily="18" charset="0"/>
                <a:cs typeface="Times New Roman" panose="02020603050405020304" pitchFamily="18" charset="0"/>
              </a:rPr>
              <a:t> Addressed missing values via median imputation and verified duplicate-free integrity.</a:t>
            </a:r>
          </a:p>
          <a:p>
            <a:pPr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Analytical Pipeline:</a:t>
            </a:r>
            <a:r>
              <a:rPr lang="en-IN" dirty="0">
                <a:latin typeface="Times New Roman" panose="02020603050405020304" pitchFamily="18" charset="0"/>
                <a:cs typeface="Times New Roman" panose="02020603050405020304" pitchFamily="18" charset="0"/>
              </a:rPr>
              <a:t> Leveraged Exploratory Data Analysis (EDA), IQR-based outlier detection, bivariate comparisons, and multivariate visualizations (heatmaps, pair plots).</a:t>
            </a:r>
          </a:p>
          <a:p>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90389-424E-473E-9260-EF529CBB25B8}"/>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
        <p:nvSpPr>
          <p:cNvPr id="5" name="Rectangle 1">
            <a:extLst>
              <a:ext uri="{FF2B5EF4-FFF2-40B4-BE49-F238E27FC236}">
                <a16:creationId xmlns:a16="http://schemas.microsoft.com/office/drawing/2014/main" id="{58B62BFF-3349-4B8F-9B1C-7E1C04B2B996}"/>
              </a:ext>
            </a:extLst>
          </p:cNvPr>
          <p:cNvSpPr>
            <a:spLocks noChangeArrowheads="1"/>
          </p:cNvSpPr>
          <p:nvPr/>
        </p:nvSpPr>
        <p:spPr bwMode="auto">
          <a:xfrm>
            <a:off x="666750" y="151702"/>
            <a:ext cx="9627624" cy="4478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Findings &amp; Insights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Seasonal Concentration: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Operations heavily skew toward the Kharif monsoon season, contrasting with the artificial irrigation demands of Rabi and Zaid periods.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Revenue vs. Profit Disparity: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Cash crops (like Sugarcane and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Chilli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generate massive gross revenues exceeding 1.0M INR, but net profits hover near break-even due to heavy overhead and resource expenditures.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Resource &amp; Risk Clusters: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Micro-irrigation significantly enhances water efficiency metrics ($\text{t}/1000\text{m}^3$) during drier windows, while high temperature and humidity combinations strongly correlate with elevated pest risks exceeding 60%.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31927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4400" dirty="0">
                <a:latin typeface="Times New Roman" panose="02020603050405020304" pitchFamily="18" charset="0"/>
                <a:cs typeface="Times New Roman" panose="02020603050405020304" pitchFamily="18" charset="0"/>
              </a:rPr>
              <a:t>WHO ARE THE END USERS?</a:t>
            </a:r>
            <a:endParaRPr lang="en-IN" sz="4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4713F5EA-EA50-4CD3-B2C7-03DA55008B97}"/>
              </a:ext>
            </a:extLst>
          </p:cNvPr>
          <p:cNvSpPr>
            <a:spLocks noGrp="1" noChangeArrowheads="1"/>
          </p:cNvSpPr>
          <p:nvPr>
            <p:ph type="body" sz="quarter" idx="12"/>
          </p:nvPr>
        </p:nvSpPr>
        <p:spPr bwMode="auto">
          <a:xfrm>
            <a:off x="720725" y="1887433"/>
            <a:ext cx="8185150" cy="4197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Farmers &amp; Agricultural Practitioners: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Primary users who can leverage seasonal insights, crop performance benchmarks, and irrigation efficiency recommendations to optimize water allocation, minimize pest vulnerabilities, and improve overall net profitability.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Agricultural Planners &amp; Policymakers: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Regional authorities who can utilize district-level risk assessments and seasonal resource distribution data to design targeted pest management programs and formulate regional resource support policies.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Agri-Tech &amp; Farm Management Consultants: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Analysts and advisors who can use the underlying data models and exploratory analytics framework to advise farms on high-revenue cash crop overhead management and seasonal cost-benefit strategies.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Autofit/>
          </a:bodyPr>
          <a:lstStyle/>
          <a:p>
            <a:r>
              <a:rPr lang="en-US" sz="4400" dirty="0">
                <a:latin typeface="Times New Roman" panose="02020603050405020304" pitchFamily="18" charset="0"/>
                <a:cs typeface="Times New Roman" panose="02020603050405020304" pitchFamily="18" charset="0"/>
              </a:rPr>
              <a:t>Technology Used</a:t>
            </a:r>
          </a:p>
        </p:txBody>
      </p:sp>
      <p:sp>
        <p:nvSpPr>
          <p:cNvPr id="3" name="Rectangle 1">
            <a:extLst>
              <a:ext uri="{FF2B5EF4-FFF2-40B4-BE49-F238E27FC236}">
                <a16:creationId xmlns:a16="http://schemas.microsoft.com/office/drawing/2014/main" id="{FE7A9121-988D-4957-834A-375ECF4D06BC}"/>
              </a:ext>
            </a:extLst>
          </p:cNvPr>
          <p:cNvSpPr>
            <a:spLocks noGrp="1" noChangeArrowheads="1"/>
          </p:cNvSpPr>
          <p:nvPr>
            <p:ph type="body" sz="quarter" idx="12"/>
          </p:nvPr>
        </p:nvSpPr>
        <p:spPr bwMode="auto">
          <a:xfrm>
            <a:off x="1135953" y="1734217"/>
            <a:ext cx="6075317" cy="2120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(Core Programming Language)</a:t>
            </a:r>
          </a:p>
          <a:p>
            <a:pPr marL="0" marR="0" lvl="0" indent="0" algn="just" defTabSz="914400" rtl="0" eaLnBrk="0" fontAlgn="base" latinLnBrk="0" hangingPunct="0">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Pandas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Manipulation &amp; Structured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Dataframes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NumPy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(Numerical Computations &amp; Array Operations)</a:t>
            </a:r>
          </a:p>
          <a:p>
            <a:pPr marL="0" marR="0" lvl="0" indent="0" algn="just" defTabSz="914400" rtl="0" eaLnBrk="0" fontAlgn="base" latinLnBrk="0" hangingPunct="0">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Matplotlib</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Visualization &amp; Plotting)</a:t>
            </a:r>
          </a:p>
          <a:p>
            <a:pPr marL="0" marR="0" lvl="0" indent="0" algn="just" defTabSz="914400" rtl="0" eaLnBrk="0" fontAlgn="base" latinLnBrk="0" hangingPunct="0">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Seaborn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(Statistical Data Visualization &amp; Heatmaps/</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Pairplots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sz="44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FC1E39A-A069-4419-8F31-7382986E0790}"/>
              </a:ext>
            </a:extLst>
          </p:cNvPr>
          <p:cNvPicPr>
            <a:picLocks noChangeAspect="1"/>
          </p:cNvPicPr>
          <p:nvPr/>
        </p:nvPicPr>
        <p:blipFill>
          <a:blip r:embed="rId3"/>
          <a:stretch>
            <a:fillRect/>
          </a:stretch>
        </p:blipFill>
        <p:spPr>
          <a:xfrm>
            <a:off x="675958" y="1095375"/>
            <a:ext cx="5181918" cy="4953000"/>
          </a:xfrm>
          <a:prstGeom prst="rect">
            <a:avLst/>
          </a:prstGeom>
        </p:spPr>
      </p:pic>
      <p:sp>
        <p:nvSpPr>
          <p:cNvPr id="6" name="TextBox 5">
            <a:extLst>
              <a:ext uri="{FF2B5EF4-FFF2-40B4-BE49-F238E27FC236}">
                <a16:creationId xmlns:a16="http://schemas.microsoft.com/office/drawing/2014/main" id="{0BCB1708-5166-4FDC-8450-4C6621FB2217}"/>
              </a:ext>
            </a:extLst>
          </p:cNvPr>
          <p:cNvSpPr txBox="1"/>
          <p:nvPr/>
        </p:nvSpPr>
        <p:spPr>
          <a:xfrm>
            <a:off x="5638800" y="2971800"/>
            <a:ext cx="914400" cy="914400"/>
          </a:xfrm>
          <a:prstGeom prst="rect">
            <a:avLst/>
          </a:prstGeom>
          <a:noFill/>
        </p:spPr>
        <p:txBody>
          <a:bodyPr wrap="square" rtlCol="0">
            <a:spAutoFit/>
          </a:bodyPr>
          <a:lstStyle/>
          <a:p>
            <a:endParaRPr lang="en-IN" dirty="0"/>
          </a:p>
        </p:txBody>
      </p:sp>
      <p:sp>
        <p:nvSpPr>
          <p:cNvPr id="9" name="TextBox 8">
            <a:extLst>
              <a:ext uri="{FF2B5EF4-FFF2-40B4-BE49-F238E27FC236}">
                <a16:creationId xmlns:a16="http://schemas.microsoft.com/office/drawing/2014/main" id="{53D4DA80-AE7B-45E1-A474-E6B024B74642}"/>
              </a:ext>
            </a:extLst>
          </p:cNvPr>
          <p:cNvSpPr txBox="1"/>
          <p:nvPr/>
        </p:nvSpPr>
        <p:spPr>
          <a:xfrm>
            <a:off x="6322334" y="1201586"/>
            <a:ext cx="5326741" cy="4939814"/>
          </a:xfrm>
          <a:prstGeom prst="rect">
            <a:avLst/>
          </a:prstGeom>
          <a:noFill/>
        </p:spPr>
        <p:txBody>
          <a:bodyPr wrap="square" rtlCol="0">
            <a:spAutoFit/>
          </a:bodyPr>
          <a:lstStyle/>
          <a:p>
            <a:pPr algn="just">
              <a:lnSpc>
                <a:spcPct val="150000"/>
              </a:lnSpc>
            </a:pPr>
            <a:r>
              <a:rPr lang="en-US" dirty="0">
                <a:effectLst/>
                <a:latin typeface="Times New Roman" panose="02020603050405020304" pitchFamily="18" charset="0"/>
                <a:cs typeface="Times New Roman" panose="02020603050405020304" pitchFamily="18" charset="0"/>
              </a:rPr>
              <a:t>This plot is basically showing how </a:t>
            </a:r>
            <a:r>
              <a:rPr lang="en-US" b="1" dirty="0">
                <a:effectLst/>
                <a:latin typeface="Times New Roman" panose="02020603050405020304" pitchFamily="18" charset="0"/>
                <a:cs typeface="Times New Roman" panose="02020603050405020304" pitchFamily="18" charset="0"/>
              </a:rPr>
              <a:t>crop yield changes with rainfall in different seasons</a:t>
            </a:r>
            <a:r>
              <a:rPr lang="en-US" dirty="0">
                <a:effectLst/>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dirty="0">
                <a:effectLst/>
                <a:latin typeface="Times New Roman" panose="02020603050405020304" pitchFamily="18" charset="0"/>
                <a:cs typeface="Times New Roman" panose="02020603050405020304" pitchFamily="18" charset="0"/>
              </a:rPr>
              <a:t>In </a:t>
            </a:r>
            <a:r>
              <a:rPr lang="en-US" b="1" dirty="0">
                <a:effectLst/>
                <a:latin typeface="Times New Roman" panose="02020603050405020304" pitchFamily="18" charset="0"/>
                <a:cs typeface="Times New Roman" panose="02020603050405020304" pitchFamily="18" charset="0"/>
              </a:rPr>
              <a:t>Kharif (dark blue)</a:t>
            </a:r>
            <a:r>
              <a:rPr lang="en-US" dirty="0">
                <a:effectLst/>
                <a:latin typeface="Times New Roman" panose="02020603050405020304" pitchFamily="18" charset="0"/>
                <a:cs typeface="Times New Roman" panose="02020603050405020304" pitchFamily="18" charset="0"/>
              </a:rPr>
              <a:t>, which depends heavily on monsoon rains, yields rise with more rainfall.</a:t>
            </a:r>
            <a:endParaRPr lang="en-US"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dirty="0">
                <a:effectLst/>
                <a:latin typeface="Times New Roman" panose="02020603050405020304" pitchFamily="18" charset="0"/>
                <a:cs typeface="Times New Roman" panose="02020603050405020304" pitchFamily="18" charset="0"/>
              </a:rPr>
              <a:t>In </a:t>
            </a:r>
            <a:r>
              <a:rPr lang="en-US" b="1" dirty="0">
                <a:effectLst/>
                <a:latin typeface="Times New Roman" panose="02020603050405020304" pitchFamily="18" charset="0"/>
                <a:cs typeface="Times New Roman" panose="02020603050405020304" pitchFamily="18" charset="0"/>
              </a:rPr>
              <a:t>Rabi (teal)</a:t>
            </a:r>
            <a:r>
              <a:rPr lang="en-US" dirty="0">
                <a:effectLst/>
                <a:latin typeface="Times New Roman" panose="02020603050405020304" pitchFamily="18" charset="0"/>
                <a:cs typeface="Times New Roman" panose="02020603050405020304" pitchFamily="18" charset="0"/>
              </a:rPr>
              <a:t>, crops are grown in winter with less rain, so yields don’t rely much on rainfall.</a:t>
            </a:r>
            <a:endParaRPr lang="en-US"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dirty="0">
                <a:effectLst/>
                <a:latin typeface="Times New Roman" panose="02020603050405020304" pitchFamily="18" charset="0"/>
                <a:cs typeface="Times New Roman" panose="02020603050405020304" pitchFamily="18" charset="0"/>
              </a:rPr>
              <a:t>In </a:t>
            </a:r>
            <a:r>
              <a:rPr lang="en-US" b="1" dirty="0">
                <a:effectLst/>
                <a:latin typeface="Times New Roman" panose="02020603050405020304" pitchFamily="18" charset="0"/>
                <a:cs typeface="Times New Roman" panose="02020603050405020304" pitchFamily="18" charset="0"/>
              </a:rPr>
              <a:t>Zaid (green)</a:t>
            </a:r>
            <a:r>
              <a:rPr lang="en-US" dirty="0">
                <a:effectLst/>
                <a:latin typeface="Times New Roman" panose="02020603050405020304" pitchFamily="18" charset="0"/>
                <a:cs typeface="Times New Roman" panose="02020603050405020304" pitchFamily="18" charset="0"/>
              </a:rPr>
              <a:t>, the short summer season, yields are scattered and less tied to rainfall.</a:t>
            </a: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effectLst/>
                <a:latin typeface="Times New Roman" panose="02020603050405020304" pitchFamily="18" charset="0"/>
                <a:cs typeface="Times New Roman" panose="02020603050405020304" pitchFamily="18" charset="0"/>
              </a:rPr>
              <a:t>So in simple words: </a:t>
            </a:r>
            <a:r>
              <a:rPr lang="en-US" b="1" dirty="0">
                <a:effectLst/>
                <a:latin typeface="Times New Roman" panose="02020603050405020304" pitchFamily="18" charset="0"/>
                <a:cs typeface="Times New Roman" panose="02020603050405020304" pitchFamily="18" charset="0"/>
              </a:rPr>
              <a:t>rain matters most for Kharif crops, less for Rabi, and Zaid is somewhere in between.</a:t>
            </a: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sz="44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5153A305-6BD8-4603-BC84-11ADA28CEECC}"/>
              </a:ext>
            </a:extLst>
          </p:cNvPr>
          <p:cNvSpPr>
            <a:spLocks noGrp="1"/>
          </p:cNvSpPr>
          <p:nvPr>
            <p:ph type="body" sz="quarter" idx="12"/>
          </p:nvPr>
        </p:nvSpPr>
        <p:spPr/>
        <p:txBody>
          <a:bodyPr/>
          <a:lstStyle/>
          <a:p>
            <a:endParaRPr lang="en-IN"/>
          </a:p>
        </p:txBody>
      </p:sp>
      <p:pic>
        <p:nvPicPr>
          <p:cNvPr id="9" name="Picture 8">
            <a:extLst>
              <a:ext uri="{FF2B5EF4-FFF2-40B4-BE49-F238E27FC236}">
                <a16:creationId xmlns:a16="http://schemas.microsoft.com/office/drawing/2014/main" id="{56FEF24D-FF63-4743-B853-51E54ECE1B64}"/>
              </a:ext>
            </a:extLst>
          </p:cNvPr>
          <p:cNvPicPr>
            <a:picLocks noChangeAspect="1"/>
          </p:cNvPicPr>
          <p:nvPr/>
        </p:nvPicPr>
        <p:blipFill>
          <a:blip r:embed="rId3"/>
          <a:stretch>
            <a:fillRect/>
          </a:stretch>
        </p:blipFill>
        <p:spPr>
          <a:xfrm>
            <a:off x="660400" y="1201586"/>
            <a:ext cx="5530850" cy="5087967"/>
          </a:xfrm>
          <a:prstGeom prst="rect">
            <a:avLst/>
          </a:prstGeom>
        </p:spPr>
      </p:pic>
      <p:sp>
        <p:nvSpPr>
          <p:cNvPr id="12" name="TextBox 11">
            <a:extLst>
              <a:ext uri="{FF2B5EF4-FFF2-40B4-BE49-F238E27FC236}">
                <a16:creationId xmlns:a16="http://schemas.microsoft.com/office/drawing/2014/main" id="{50616337-E41D-4403-8F51-A11FFF8C2C43}"/>
              </a:ext>
            </a:extLst>
          </p:cNvPr>
          <p:cNvSpPr txBox="1"/>
          <p:nvPr/>
        </p:nvSpPr>
        <p:spPr>
          <a:xfrm>
            <a:off x="6400800" y="1058143"/>
            <a:ext cx="4657725" cy="5355312"/>
          </a:xfrm>
          <a:prstGeom prst="rect">
            <a:avLst/>
          </a:prstGeom>
          <a:noFill/>
        </p:spPr>
        <p:txBody>
          <a:bodyPr wrap="square" rtlCol="0">
            <a:spAutoFit/>
          </a:bodyPr>
          <a:lstStyle/>
          <a:p>
            <a:pPr algn="just">
              <a:lnSpc>
                <a:spcPct val="150000"/>
              </a:lnSpc>
            </a:pPr>
            <a:r>
              <a:rPr lang="en-US" dirty="0">
                <a:effectLst/>
                <a:latin typeface="Times New Roman" panose="02020603050405020304" pitchFamily="18" charset="0"/>
                <a:cs typeface="Times New Roman" panose="02020603050405020304" pitchFamily="18" charset="0"/>
              </a:rPr>
              <a:t>This plot is showing how </a:t>
            </a:r>
            <a:r>
              <a:rPr lang="en-US" b="1" dirty="0">
                <a:effectLst/>
                <a:latin typeface="Times New Roman" panose="02020603050405020304" pitchFamily="18" charset="0"/>
                <a:cs typeface="Times New Roman" panose="02020603050405020304" pitchFamily="18" charset="0"/>
              </a:rPr>
              <a:t>different crops produce differently depending on farm size</a:t>
            </a:r>
            <a:r>
              <a:rPr lang="en-US" dirty="0">
                <a:effectLst/>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Sugarcane (gray)</a:t>
            </a:r>
            <a:r>
              <a:rPr lang="en-US" dirty="0">
                <a:effectLst/>
                <a:latin typeface="Times New Roman" panose="02020603050405020304" pitchFamily="18" charset="0"/>
                <a:cs typeface="Times New Roman" panose="02020603050405020304" pitchFamily="18" charset="0"/>
              </a:rPr>
              <a:t> stands out — even with small farm areas, it gives very high production compared to all other crops.</a:t>
            </a:r>
            <a:endParaRPr lang="en-US"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Wheat, maize, pulses, rice, cotton, </a:t>
            </a:r>
            <a:r>
              <a:rPr lang="en-US" b="1" dirty="0" err="1">
                <a:effectLst/>
                <a:latin typeface="Times New Roman" panose="02020603050405020304" pitchFamily="18" charset="0"/>
                <a:cs typeface="Times New Roman" panose="02020603050405020304" pitchFamily="18" charset="0"/>
              </a:rPr>
              <a:t>chilli</a:t>
            </a:r>
            <a:r>
              <a:rPr lang="en-US" b="1" dirty="0">
                <a:effectLst/>
                <a:latin typeface="Times New Roman" panose="02020603050405020304" pitchFamily="18" charset="0"/>
                <a:cs typeface="Times New Roman" panose="02020603050405020304" pitchFamily="18" charset="0"/>
              </a:rPr>
              <a:t>, and groundnut</a:t>
            </a:r>
            <a:r>
              <a:rPr lang="en-US" dirty="0">
                <a:effectLst/>
                <a:latin typeface="Times New Roman" panose="02020603050405020304" pitchFamily="18" charset="0"/>
                <a:cs typeface="Times New Roman" panose="02020603050405020304" pitchFamily="18" charset="0"/>
              </a:rPr>
              <a:t> mostly stay near the bottom, meaning their production is much lower for similar farm sizes.</a:t>
            </a:r>
            <a:endParaRPr lang="en-US"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dirty="0">
                <a:effectLst/>
                <a:latin typeface="Times New Roman" panose="02020603050405020304" pitchFamily="18" charset="0"/>
                <a:cs typeface="Times New Roman" panose="02020603050405020304" pitchFamily="18" charset="0"/>
              </a:rPr>
              <a:t>In simple words: </a:t>
            </a:r>
            <a:r>
              <a:rPr lang="en-US" b="1" dirty="0">
                <a:effectLst/>
                <a:latin typeface="Times New Roman" panose="02020603050405020304" pitchFamily="18" charset="0"/>
                <a:cs typeface="Times New Roman" panose="02020603050405020304" pitchFamily="18" charset="0"/>
              </a:rPr>
              <a:t>Sugarcane is a powerhouse crop, while the rest give modest outputs even if the farm area is similar.</a:t>
            </a: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sz="4400" dirty="0">
                <a:latin typeface="Times New Roman" panose="02020603050405020304" pitchFamily="18" charset="0"/>
                <a:cs typeface="Times New Roman" panose="02020603050405020304" pitchFamily="18" charset="0"/>
              </a:rPr>
              <a:t>RESULTS </a:t>
            </a:r>
            <a:endParaRPr lang="en-IN" sz="44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70E6B378-6E40-4C87-B6C4-5551CB55B37E}"/>
              </a:ext>
            </a:extLst>
          </p:cNvPr>
          <p:cNvSpPr>
            <a:spLocks noGrp="1"/>
          </p:cNvSpPr>
          <p:nvPr>
            <p:ph type="body" sz="quarter" idx="12"/>
          </p:nvPr>
        </p:nvSpPr>
        <p:spPr/>
        <p:txBody>
          <a:bodyPr/>
          <a:lstStyle/>
          <a:p>
            <a:endParaRPr lang="en-IN"/>
          </a:p>
        </p:txBody>
      </p:sp>
      <p:pic>
        <p:nvPicPr>
          <p:cNvPr id="9" name="Picture 8">
            <a:extLst>
              <a:ext uri="{FF2B5EF4-FFF2-40B4-BE49-F238E27FC236}">
                <a16:creationId xmlns:a16="http://schemas.microsoft.com/office/drawing/2014/main" id="{80A28960-B1D6-4350-828E-EE17F13863B1}"/>
              </a:ext>
            </a:extLst>
          </p:cNvPr>
          <p:cNvPicPr>
            <a:picLocks noChangeAspect="1"/>
          </p:cNvPicPr>
          <p:nvPr/>
        </p:nvPicPr>
        <p:blipFill>
          <a:blip r:embed="rId3"/>
          <a:stretch>
            <a:fillRect/>
          </a:stretch>
        </p:blipFill>
        <p:spPr>
          <a:xfrm>
            <a:off x="219074" y="1155027"/>
            <a:ext cx="5876925" cy="5340107"/>
          </a:xfrm>
          <a:prstGeom prst="rect">
            <a:avLst/>
          </a:prstGeom>
        </p:spPr>
      </p:pic>
      <p:sp>
        <p:nvSpPr>
          <p:cNvPr id="12" name="TextBox 11">
            <a:extLst>
              <a:ext uri="{FF2B5EF4-FFF2-40B4-BE49-F238E27FC236}">
                <a16:creationId xmlns:a16="http://schemas.microsoft.com/office/drawing/2014/main" id="{23872D9C-E743-4E8E-B824-5F5902FF7B40}"/>
              </a:ext>
            </a:extLst>
          </p:cNvPr>
          <p:cNvSpPr txBox="1"/>
          <p:nvPr/>
        </p:nvSpPr>
        <p:spPr>
          <a:xfrm>
            <a:off x="6537325" y="1234526"/>
            <a:ext cx="4895851" cy="5355312"/>
          </a:xfrm>
          <a:prstGeom prst="rect">
            <a:avLst/>
          </a:prstGeom>
          <a:noFill/>
        </p:spPr>
        <p:txBody>
          <a:bodyPr wrap="square" rtlCol="0">
            <a:spAutoFit/>
          </a:bodyPr>
          <a:lstStyle/>
          <a:p>
            <a:pPr algn="just">
              <a:lnSpc>
                <a:spcPct val="150000"/>
              </a:lnSpc>
            </a:pPr>
            <a:r>
              <a:rPr lang="en-US" dirty="0">
                <a:effectLst/>
                <a:latin typeface="Times New Roman" panose="02020603050405020304" pitchFamily="18" charset="0"/>
                <a:cs typeface="Times New Roman" panose="02020603050405020304" pitchFamily="18" charset="0"/>
              </a:rPr>
              <a:t>This chart is simply showing which </a:t>
            </a:r>
            <a:r>
              <a:rPr lang="en-US" b="1" dirty="0">
                <a:effectLst/>
                <a:latin typeface="Times New Roman" panose="02020603050405020304" pitchFamily="18" charset="0"/>
                <a:cs typeface="Times New Roman" panose="02020603050405020304" pitchFamily="18" charset="0"/>
              </a:rPr>
              <a:t>irrigation method gives better crop yields</a:t>
            </a:r>
            <a:r>
              <a:rPr lang="en-US" dirty="0">
                <a:effectLst/>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Drip irrigation</a:t>
            </a:r>
            <a:r>
              <a:rPr lang="en-US" dirty="0">
                <a:effectLst/>
                <a:latin typeface="Times New Roman" panose="02020603050405020304" pitchFamily="18" charset="0"/>
                <a:cs typeface="Times New Roman" panose="02020603050405020304" pitchFamily="18" charset="0"/>
              </a:rPr>
              <a:t> comes out on top — it produces the highest yields.</a:t>
            </a:r>
            <a:endParaRPr lang="en-US"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Sprinkler</a:t>
            </a:r>
            <a:r>
              <a:rPr lang="en-US" dirty="0">
                <a:effectLst/>
                <a:latin typeface="Times New Roman" panose="02020603050405020304" pitchFamily="18" charset="0"/>
                <a:cs typeface="Times New Roman" panose="02020603050405020304" pitchFamily="18" charset="0"/>
              </a:rPr>
              <a:t> is next, giving good results but not as high as drip.</a:t>
            </a:r>
            <a:endParaRPr lang="en-US"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Flood irrigation</a:t>
            </a:r>
            <a:r>
              <a:rPr lang="en-US" dirty="0">
                <a:effectLst/>
                <a:latin typeface="Times New Roman" panose="02020603050405020304" pitchFamily="18" charset="0"/>
                <a:cs typeface="Times New Roman" panose="02020603050405020304" pitchFamily="18" charset="0"/>
              </a:rPr>
              <a:t> and </a:t>
            </a:r>
            <a:r>
              <a:rPr lang="en-US" b="1" dirty="0">
                <a:effectLst/>
                <a:latin typeface="Times New Roman" panose="02020603050405020304" pitchFamily="18" charset="0"/>
                <a:cs typeface="Times New Roman" panose="02020603050405020304" pitchFamily="18" charset="0"/>
              </a:rPr>
              <a:t>rainfed farming</a:t>
            </a:r>
            <a:r>
              <a:rPr lang="en-US" dirty="0">
                <a:effectLst/>
                <a:latin typeface="Times New Roman" panose="02020603050405020304" pitchFamily="18" charset="0"/>
                <a:cs typeface="Times New Roman" panose="02020603050405020304" pitchFamily="18" charset="0"/>
              </a:rPr>
              <a:t> are lower, meaning they produce less on average.</a:t>
            </a: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effectLst/>
                <a:latin typeface="Times New Roman" panose="02020603050405020304" pitchFamily="18" charset="0"/>
                <a:cs typeface="Times New Roman" panose="02020603050405020304" pitchFamily="18" charset="0"/>
              </a:rPr>
              <a:t>In plain words: </a:t>
            </a:r>
            <a:r>
              <a:rPr lang="en-US" b="1" dirty="0">
                <a:effectLst/>
                <a:latin typeface="Times New Roman" panose="02020603050405020304" pitchFamily="18" charset="0"/>
                <a:cs typeface="Times New Roman" panose="02020603050405020304" pitchFamily="18" charset="0"/>
              </a:rPr>
              <a:t>modern methods like drip and sprinkler help crops grow more, while traditional flood or relying only on rain gives less.</a:t>
            </a: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sz="4400" dirty="0">
                <a:latin typeface="Times New Roman" panose="02020603050405020304" pitchFamily="18" charset="0"/>
                <a:cs typeface="Times New Roman" panose="02020603050405020304" pitchFamily="18" charset="0"/>
              </a:rPr>
              <a:t>RESULTS </a:t>
            </a:r>
            <a:endParaRPr lang="en-IN" sz="44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E78FF9AC-20DB-40AF-9865-A188B2703FE1}"/>
              </a:ext>
            </a:extLst>
          </p:cNvPr>
          <p:cNvSpPr>
            <a:spLocks noGrp="1"/>
          </p:cNvSpPr>
          <p:nvPr>
            <p:ph type="body" sz="quarter" idx="12"/>
          </p:nvPr>
        </p:nvSpPr>
        <p:spPr/>
        <p:txBody>
          <a:bodyPr/>
          <a:lstStyle/>
          <a:p>
            <a:endParaRPr lang="en-IN"/>
          </a:p>
        </p:txBody>
      </p:sp>
      <p:pic>
        <p:nvPicPr>
          <p:cNvPr id="9" name="Picture 8">
            <a:extLst>
              <a:ext uri="{FF2B5EF4-FFF2-40B4-BE49-F238E27FC236}">
                <a16:creationId xmlns:a16="http://schemas.microsoft.com/office/drawing/2014/main" id="{B5D9C361-354C-45C6-B00D-1E0B6012446C}"/>
              </a:ext>
            </a:extLst>
          </p:cNvPr>
          <p:cNvPicPr>
            <a:picLocks noChangeAspect="1"/>
          </p:cNvPicPr>
          <p:nvPr/>
        </p:nvPicPr>
        <p:blipFill>
          <a:blip r:embed="rId3"/>
          <a:stretch>
            <a:fillRect/>
          </a:stretch>
        </p:blipFill>
        <p:spPr>
          <a:xfrm>
            <a:off x="375918" y="1110456"/>
            <a:ext cx="5148581" cy="5429250"/>
          </a:xfrm>
          <a:prstGeom prst="rect">
            <a:avLst/>
          </a:prstGeom>
        </p:spPr>
      </p:pic>
      <p:sp>
        <p:nvSpPr>
          <p:cNvPr id="13" name="TextBox 12">
            <a:extLst>
              <a:ext uri="{FF2B5EF4-FFF2-40B4-BE49-F238E27FC236}">
                <a16:creationId xmlns:a16="http://schemas.microsoft.com/office/drawing/2014/main" id="{7121EEEB-1A40-4E5B-B8AC-3884393FD3C3}"/>
              </a:ext>
            </a:extLst>
          </p:cNvPr>
          <p:cNvSpPr txBox="1"/>
          <p:nvPr/>
        </p:nvSpPr>
        <p:spPr>
          <a:xfrm>
            <a:off x="5638800" y="2971800"/>
            <a:ext cx="914400" cy="914400"/>
          </a:xfrm>
          <a:prstGeom prst="rect">
            <a:avLst/>
          </a:prstGeom>
          <a:noFill/>
        </p:spPr>
        <p:txBody>
          <a:bodyPr wrap="square" rtlCol="0">
            <a:spAutoFit/>
          </a:bodyPr>
          <a:lstStyle/>
          <a:p>
            <a:endParaRPr lang="en-IN" dirty="0"/>
          </a:p>
        </p:txBody>
      </p:sp>
      <p:sp>
        <p:nvSpPr>
          <p:cNvPr id="14" name="TextBox 13">
            <a:extLst>
              <a:ext uri="{FF2B5EF4-FFF2-40B4-BE49-F238E27FC236}">
                <a16:creationId xmlns:a16="http://schemas.microsoft.com/office/drawing/2014/main" id="{6583DAAA-1D71-423F-A223-1B04E62CE2F8}"/>
              </a:ext>
            </a:extLst>
          </p:cNvPr>
          <p:cNvSpPr txBox="1"/>
          <p:nvPr/>
        </p:nvSpPr>
        <p:spPr>
          <a:xfrm flipH="1">
            <a:off x="5824538" y="1110456"/>
            <a:ext cx="5478144" cy="5028556"/>
          </a:xfrm>
          <a:prstGeom prst="rect">
            <a:avLst/>
          </a:prstGeom>
          <a:noFill/>
        </p:spPr>
        <p:txBody>
          <a:bodyPr wrap="square" rtlCol="0">
            <a:spAutoFit/>
          </a:bodyPr>
          <a:lstStyle/>
          <a:p>
            <a:pPr algn="just">
              <a:lnSpc>
                <a:spcPct val="150000"/>
              </a:lnSpc>
            </a:pPr>
            <a:r>
              <a:rPr lang="en-US" dirty="0">
                <a:effectLst/>
                <a:latin typeface="Times New Roman" panose="02020603050405020304" pitchFamily="18" charset="0"/>
                <a:cs typeface="Times New Roman" panose="02020603050405020304" pitchFamily="18" charset="0"/>
              </a:rPr>
              <a:t>This plot is like a </a:t>
            </a:r>
            <a:r>
              <a:rPr lang="en-US" b="1" dirty="0">
                <a:effectLst/>
                <a:latin typeface="Times New Roman" panose="02020603050405020304" pitchFamily="18" charset="0"/>
                <a:cs typeface="Times New Roman" panose="02020603050405020304" pitchFamily="18" charset="0"/>
              </a:rPr>
              <a:t>big picture of farming seasons and their conditions</a:t>
            </a:r>
            <a:r>
              <a:rPr lang="en-US" dirty="0">
                <a:effectLst/>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dirty="0">
                <a:effectLst/>
                <a:latin typeface="Times New Roman" panose="02020603050405020304" pitchFamily="18" charset="0"/>
                <a:cs typeface="Times New Roman" panose="02020603050405020304" pitchFamily="18" charset="0"/>
              </a:rPr>
              <a:t>It shows how </a:t>
            </a:r>
            <a:r>
              <a:rPr lang="en-US" b="1" dirty="0">
                <a:effectLst/>
                <a:latin typeface="Times New Roman" panose="02020603050405020304" pitchFamily="18" charset="0"/>
                <a:cs typeface="Times New Roman" panose="02020603050405020304" pitchFamily="18" charset="0"/>
              </a:rPr>
              <a:t>temperature, rainfall, and humidity</a:t>
            </a:r>
            <a:r>
              <a:rPr lang="en-US" dirty="0">
                <a:effectLst/>
                <a:latin typeface="Times New Roman" panose="02020603050405020304" pitchFamily="18" charset="0"/>
                <a:cs typeface="Times New Roman" panose="02020603050405020304" pitchFamily="18" charset="0"/>
              </a:rPr>
              <a:t> connect with </a:t>
            </a:r>
            <a:r>
              <a:rPr lang="en-US" b="1" dirty="0">
                <a:effectLst/>
                <a:latin typeface="Times New Roman" panose="02020603050405020304" pitchFamily="18" charset="0"/>
                <a:cs typeface="Times New Roman" panose="02020603050405020304" pitchFamily="18" charset="0"/>
              </a:rPr>
              <a:t>yield and profit</a:t>
            </a:r>
            <a:r>
              <a:rPr lang="en-US" dirty="0">
                <a:effectLst/>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dirty="0">
                <a:effectLst/>
                <a:latin typeface="Times New Roman" panose="02020603050405020304" pitchFamily="18" charset="0"/>
                <a:cs typeface="Times New Roman" panose="02020603050405020304" pitchFamily="18" charset="0"/>
              </a:rPr>
              <a:t>Each season — </a:t>
            </a:r>
            <a:r>
              <a:rPr lang="en-US" b="1" dirty="0">
                <a:effectLst/>
                <a:latin typeface="Times New Roman" panose="02020603050405020304" pitchFamily="18" charset="0"/>
                <a:cs typeface="Times New Roman" panose="02020603050405020304" pitchFamily="18" charset="0"/>
              </a:rPr>
              <a:t>Kharif, Rabi, and Zaid</a:t>
            </a:r>
            <a:r>
              <a:rPr lang="en-US" dirty="0">
                <a:effectLst/>
                <a:latin typeface="Times New Roman" panose="02020603050405020304" pitchFamily="18" charset="0"/>
                <a:cs typeface="Times New Roman" panose="02020603050405020304" pitchFamily="18" charset="0"/>
              </a:rPr>
              <a:t> — has its own color, so you can see how the same factors play out differently across them.</a:t>
            </a:r>
            <a:endParaRPr lang="en-US"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dirty="0">
                <a:effectLst/>
                <a:latin typeface="Times New Roman" panose="02020603050405020304" pitchFamily="18" charset="0"/>
                <a:cs typeface="Times New Roman" panose="02020603050405020304" pitchFamily="18" charset="0"/>
              </a:rPr>
              <a:t>For example, you might notice that </a:t>
            </a:r>
            <a:r>
              <a:rPr lang="en-US" b="1" dirty="0">
                <a:effectLst/>
                <a:latin typeface="Times New Roman" panose="02020603050405020304" pitchFamily="18" charset="0"/>
                <a:cs typeface="Times New Roman" panose="02020603050405020304" pitchFamily="18" charset="0"/>
              </a:rPr>
              <a:t>rainfall links strongly with yield in Kharif</a:t>
            </a:r>
            <a:r>
              <a:rPr lang="en-US" dirty="0">
                <a:effectLst/>
                <a:latin typeface="Times New Roman" panose="02020603050405020304" pitchFamily="18" charset="0"/>
                <a:cs typeface="Times New Roman" panose="02020603050405020304" pitchFamily="18" charset="0"/>
              </a:rPr>
              <a:t>, while </a:t>
            </a:r>
            <a:r>
              <a:rPr lang="en-US" b="1" dirty="0">
                <a:effectLst/>
                <a:latin typeface="Times New Roman" panose="02020603050405020304" pitchFamily="18" charset="0"/>
                <a:cs typeface="Times New Roman" panose="02020603050405020304" pitchFamily="18" charset="0"/>
              </a:rPr>
              <a:t>profit patterns shift with temperature or humidity in other seasons</a:t>
            </a:r>
            <a:r>
              <a:rPr lang="en-US" dirty="0">
                <a:effectLst/>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effectLst/>
                <a:latin typeface="Times New Roman" panose="02020603050405020304" pitchFamily="18" charset="0"/>
                <a:cs typeface="Times New Roman" panose="02020603050405020304" pitchFamily="18" charset="0"/>
              </a:rPr>
              <a:t>In simple words: </a:t>
            </a:r>
            <a:r>
              <a:rPr lang="en-US" b="1" dirty="0">
                <a:effectLst/>
                <a:latin typeface="Times New Roman" panose="02020603050405020304" pitchFamily="18" charset="0"/>
                <a:cs typeface="Times New Roman" panose="02020603050405020304" pitchFamily="18" charset="0"/>
              </a:rPr>
              <a:t>it’s a map of how weather and farming results are tied together, season by season.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sz="4400" dirty="0">
                <a:latin typeface="Times New Roman" panose="02020603050405020304" pitchFamily="18" charset="0"/>
                <a:cs typeface="Times New Roman" panose="02020603050405020304" pitchFamily="18" charset="0"/>
              </a:rPr>
              <a:t>RESULTS </a:t>
            </a:r>
            <a:endParaRPr lang="en-IN" sz="44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1F95208E-95AC-4111-A3CD-2F9E7DCD0534}"/>
              </a:ext>
            </a:extLst>
          </p:cNvPr>
          <p:cNvSpPr>
            <a:spLocks noGrp="1"/>
          </p:cNvSpPr>
          <p:nvPr>
            <p:ph type="body" sz="quarter" idx="12"/>
          </p:nvPr>
        </p:nvSpPr>
        <p:spPr/>
        <p:txBody>
          <a:bodyPr/>
          <a:lstStyle/>
          <a:p>
            <a:endParaRPr lang="en-IN"/>
          </a:p>
        </p:txBody>
      </p:sp>
      <p:pic>
        <p:nvPicPr>
          <p:cNvPr id="9" name="Picture 8">
            <a:extLst>
              <a:ext uri="{FF2B5EF4-FFF2-40B4-BE49-F238E27FC236}">
                <a16:creationId xmlns:a16="http://schemas.microsoft.com/office/drawing/2014/main" id="{F117B814-0E0A-4848-BA74-9BF2DDC7A70E}"/>
              </a:ext>
            </a:extLst>
          </p:cNvPr>
          <p:cNvPicPr>
            <a:picLocks noChangeAspect="1"/>
          </p:cNvPicPr>
          <p:nvPr/>
        </p:nvPicPr>
        <p:blipFill>
          <a:blip r:embed="rId3"/>
          <a:stretch>
            <a:fillRect/>
          </a:stretch>
        </p:blipFill>
        <p:spPr>
          <a:xfrm>
            <a:off x="320983" y="1201587"/>
            <a:ext cx="6232218" cy="5463374"/>
          </a:xfrm>
          <a:prstGeom prst="rect">
            <a:avLst/>
          </a:prstGeom>
        </p:spPr>
      </p:pic>
      <p:sp>
        <p:nvSpPr>
          <p:cNvPr id="14" name="TextBox 13">
            <a:extLst>
              <a:ext uri="{FF2B5EF4-FFF2-40B4-BE49-F238E27FC236}">
                <a16:creationId xmlns:a16="http://schemas.microsoft.com/office/drawing/2014/main" id="{D84F7FE9-A8C6-43C2-828A-6811325A01B2}"/>
              </a:ext>
            </a:extLst>
          </p:cNvPr>
          <p:cNvSpPr txBox="1"/>
          <p:nvPr/>
        </p:nvSpPr>
        <p:spPr>
          <a:xfrm>
            <a:off x="6553200" y="923926"/>
            <a:ext cx="5317816" cy="6186309"/>
          </a:xfrm>
          <a:prstGeom prst="rect">
            <a:avLst/>
          </a:prstGeom>
          <a:noFill/>
        </p:spPr>
        <p:txBody>
          <a:bodyPr wrap="square" rtlCol="0">
            <a:spAutoFit/>
          </a:bodyPr>
          <a:lstStyle/>
          <a:p>
            <a:pPr algn="just">
              <a:lnSpc>
                <a:spcPct val="150000"/>
              </a:lnSpc>
            </a:pPr>
            <a:r>
              <a:rPr lang="en-US" dirty="0">
                <a:effectLst/>
                <a:latin typeface="Times New Roman" panose="02020603050405020304" pitchFamily="18" charset="0"/>
                <a:cs typeface="Times New Roman" panose="02020603050405020304" pitchFamily="18" charset="0"/>
              </a:rPr>
              <a:t>This heatmap is showing </a:t>
            </a:r>
            <a:r>
              <a:rPr lang="en-US" b="1" dirty="0">
                <a:effectLst/>
                <a:latin typeface="Times New Roman" panose="02020603050405020304" pitchFamily="18" charset="0"/>
                <a:cs typeface="Times New Roman" panose="02020603050405020304" pitchFamily="18" charset="0"/>
              </a:rPr>
              <a:t>how farming and money factors are connected</a:t>
            </a:r>
            <a:r>
              <a:rPr lang="en-US" dirty="0">
                <a:effectLst/>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Revenue and profit</a:t>
            </a:r>
            <a:r>
              <a:rPr lang="en-US" dirty="0">
                <a:effectLst/>
                <a:latin typeface="Times New Roman" panose="02020603050405020304" pitchFamily="18" charset="0"/>
                <a:cs typeface="Times New Roman" panose="02020603050405020304" pitchFamily="18" charset="0"/>
              </a:rPr>
              <a:t> are strongly tied together — more revenue usually means more profit.</a:t>
            </a:r>
            <a:endParaRPr lang="en-US"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Yield</a:t>
            </a:r>
            <a:r>
              <a:rPr lang="en-US" dirty="0">
                <a:effectLst/>
                <a:latin typeface="Times New Roman" panose="02020603050405020304" pitchFamily="18" charset="0"/>
                <a:cs typeface="Times New Roman" panose="02020603050405020304" pitchFamily="18" charset="0"/>
              </a:rPr>
              <a:t> also links positively with profit and revenue, meaning better harvests bring better earnings.</a:t>
            </a:r>
            <a:endParaRPr lang="en-US"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Rainfall and water use</a:t>
            </a:r>
            <a:r>
              <a:rPr lang="en-US" dirty="0">
                <a:effectLst/>
                <a:latin typeface="Times New Roman" panose="02020603050405020304" pitchFamily="18" charset="0"/>
                <a:cs typeface="Times New Roman" panose="02020603050405020304" pitchFamily="18" charset="0"/>
              </a:rPr>
              <a:t> connect with yield, but temperature sometimes shows weaker or even negative links.</a:t>
            </a:r>
            <a:endParaRPr lang="en-US"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Farm area</a:t>
            </a:r>
            <a:r>
              <a:rPr lang="en-US" dirty="0">
                <a:effectLst/>
                <a:latin typeface="Times New Roman" panose="02020603050405020304" pitchFamily="18" charset="0"/>
                <a:cs typeface="Times New Roman" panose="02020603050405020304" pitchFamily="18" charset="0"/>
              </a:rPr>
              <a:t> relates to cost and revenue — bigger farms spend more but also earn more.</a:t>
            </a: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effectLst/>
                <a:latin typeface="Times New Roman" panose="02020603050405020304" pitchFamily="18" charset="0"/>
                <a:cs typeface="Times New Roman" panose="02020603050405020304" pitchFamily="18" charset="0"/>
              </a:rPr>
              <a:t>In simple words: </a:t>
            </a:r>
            <a:r>
              <a:rPr lang="en-US" b="1" dirty="0">
                <a:effectLst/>
                <a:latin typeface="Times New Roman" panose="02020603050405020304" pitchFamily="18" charset="0"/>
                <a:cs typeface="Times New Roman" panose="02020603050405020304" pitchFamily="18" charset="0"/>
              </a:rPr>
              <a:t>good harvests and smart water use drive profit, while bigger farms scale both costs and income.</a:t>
            </a: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400"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BA9FC76A-0E01-4B53-8287-EF5BCC2C99B0}"/>
              </a:ext>
            </a:extLst>
          </p:cNvPr>
          <p:cNvSpPr txBox="1"/>
          <p:nvPr/>
        </p:nvSpPr>
        <p:spPr>
          <a:xfrm>
            <a:off x="866775" y="1381125"/>
            <a:ext cx="10020299" cy="5028556"/>
          </a:xfrm>
          <a:prstGeom prst="rect">
            <a:avLst/>
          </a:prstGeom>
          <a:noFill/>
        </p:spPr>
        <p:txBody>
          <a:bodyPr wrap="square" rtlCol="0">
            <a:spAutoFit/>
          </a:bodyPr>
          <a:lstStyle/>
          <a:p>
            <a:pPr algn="just" rtl="0">
              <a:lnSpc>
                <a:spcPct val="150000"/>
              </a:lnSpc>
            </a:pPr>
            <a:r>
              <a:rPr lang="en-US" dirty="0">
                <a:latin typeface="Times New Roman" panose="02020603050405020304" pitchFamily="18" charset="0"/>
                <a:cs typeface="Times New Roman" panose="02020603050405020304" pitchFamily="18" charset="0"/>
              </a:rPr>
              <a:t>T</a:t>
            </a:r>
            <a:r>
              <a:rPr lang="en-US" dirty="0">
                <a:effectLst/>
                <a:latin typeface="Times New Roman" panose="02020603050405020304" pitchFamily="18" charset="0"/>
                <a:cs typeface="Times New Roman" panose="02020603050405020304" pitchFamily="18" charset="0"/>
              </a:rPr>
              <a:t>he future scope includes several advanced technical extensions and practical deployments:</a:t>
            </a:r>
          </a:p>
          <a:p>
            <a:pPr algn="just" rtl="0">
              <a:lnSpc>
                <a:spcPct val="150000"/>
              </a:lnSpc>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Predictive Yield Modeling:</a:t>
            </a:r>
            <a:r>
              <a:rPr lang="en-US" dirty="0">
                <a:effectLst/>
                <a:latin typeface="Times New Roman" panose="02020603050405020304" pitchFamily="18" charset="0"/>
                <a:cs typeface="Times New Roman" panose="02020603050405020304" pitchFamily="18" charset="0"/>
              </a:rPr>
              <a:t> Integrate machine learning regression models (such as Random Forest, </a:t>
            </a:r>
            <a:r>
              <a:rPr lang="en-US" dirty="0" err="1">
                <a:effectLst/>
                <a:latin typeface="Times New Roman" panose="02020603050405020304" pitchFamily="18" charset="0"/>
                <a:cs typeface="Times New Roman" panose="02020603050405020304" pitchFamily="18" charset="0"/>
              </a:rPr>
              <a:t>XGBoost</a:t>
            </a:r>
            <a:r>
              <a:rPr lang="en-US" dirty="0">
                <a:effectLst/>
                <a:latin typeface="Times New Roman" panose="02020603050405020304" pitchFamily="18" charset="0"/>
                <a:cs typeface="Times New Roman" panose="02020603050405020304" pitchFamily="18" charset="0"/>
              </a:rPr>
              <a:t>, or Long Short-Term Memory networks) to forecast future crop yields dynamically based on real-time weather forecasts and soil conditions.</a:t>
            </a:r>
          </a:p>
          <a:p>
            <a:pPr algn="just" rtl="0">
              <a:lnSpc>
                <a:spcPct val="150000"/>
              </a:lnSpc>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Automated Irrigation Control Systems:</a:t>
            </a:r>
            <a:r>
              <a:rPr lang="en-US" dirty="0">
                <a:effectLst/>
                <a:latin typeface="Times New Roman" panose="02020603050405020304" pitchFamily="18" charset="0"/>
                <a:cs typeface="Times New Roman" panose="02020603050405020304" pitchFamily="18" charset="0"/>
              </a:rPr>
              <a:t> Connect the water efficiency and irrigation method insights with IoT-based smart farming hardware to automatically regulate drip and sprinkler systems according to seasonal moisture deficits.</a:t>
            </a:r>
          </a:p>
          <a:p>
            <a:pPr algn="just" rtl="0">
              <a:lnSpc>
                <a:spcPct val="150000"/>
              </a:lnSpc>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Geospatial &amp; Satellite Integration:</a:t>
            </a:r>
            <a:r>
              <a:rPr lang="en-US" dirty="0">
                <a:effectLst/>
                <a:latin typeface="Times New Roman" panose="02020603050405020304" pitchFamily="18" charset="0"/>
                <a:cs typeface="Times New Roman" panose="02020603050405020304" pitchFamily="18" charset="0"/>
              </a:rPr>
              <a:t> Incorporate GIS mapping and remote sensing data to monitor regional crop health, rainfall distribution, and pest vulnerability zones at a finer district-level resolution.</a:t>
            </a:r>
          </a:p>
          <a:p>
            <a:pPr algn="just" rtl="0">
              <a:lnSpc>
                <a:spcPct val="150000"/>
              </a:lnSpc>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Economic Risk &amp; Price Forecasting Dashboard:</a:t>
            </a:r>
            <a:r>
              <a:rPr lang="en-US" dirty="0">
                <a:effectLst/>
                <a:latin typeface="Times New Roman" panose="02020603050405020304" pitchFamily="18" charset="0"/>
                <a:cs typeface="Times New Roman" panose="02020603050405020304" pitchFamily="18" charset="0"/>
              </a:rPr>
              <a:t> Build interactive web applications (using </a:t>
            </a:r>
            <a:r>
              <a:rPr lang="en-US" dirty="0" err="1">
                <a:effectLst/>
                <a:latin typeface="Times New Roman" panose="02020603050405020304" pitchFamily="18" charset="0"/>
                <a:cs typeface="Times New Roman" panose="02020603050405020304" pitchFamily="18" charset="0"/>
              </a:rPr>
              <a:t>Streamlit</a:t>
            </a:r>
            <a:r>
              <a:rPr lang="en-US" dirty="0">
                <a:effectLst/>
                <a:latin typeface="Times New Roman" panose="02020603050405020304" pitchFamily="18" charset="0"/>
                <a:cs typeface="Times New Roman" panose="02020603050405020304" pitchFamily="18" charset="0"/>
              </a:rPr>
              <a:t> or Dash) to help farmers simulate market price volatility and net profit margins before committing capital to high-revenue cash crops.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400" dirty="0">
                <a:latin typeface="Times New Roman" panose="02020603050405020304" pitchFamily="18" charset="0"/>
                <a:cs typeface="Times New Roman" panose="02020603050405020304" pitchFamily="18"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A077FB1F-7A37-426B-BD03-BA8225ABCC7E}"/>
              </a:ext>
            </a:extLst>
          </p:cNvPr>
          <p:cNvSpPr txBox="1"/>
          <p:nvPr/>
        </p:nvSpPr>
        <p:spPr>
          <a:xfrm flipH="1">
            <a:off x="969643" y="1799246"/>
            <a:ext cx="7850506" cy="1200329"/>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PROFILE LINK </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hlinkClick r:id="rId3"/>
              </a:rPr>
              <a:t>https://github.com/yojana22-sherpa</a:t>
            </a: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REPOSITORY LINK </a:t>
            </a:r>
            <a:r>
              <a:rPr lang="en-US" dirty="0">
                <a:latin typeface="Times New Roman" panose="02020603050405020304" pitchFamily="18" charset="0"/>
                <a:cs typeface="Times New Roman" panose="02020603050405020304" pitchFamily="18" charset="0"/>
              </a:rPr>
              <a:t>: https://github.com/yojana22-sherpa/Seasonal-Agricultural-Performance-Analysis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2085657" y="899722"/>
            <a:ext cx="8351388" cy="884658"/>
          </a:xfrm>
        </p:spPr>
        <p:txBody>
          <a:bodyPr>
            <a:normAutofit fontScale="90000"/>
          </a:bodyPr>
          <a:lstStyle/>
          <a:p>
            <a:pPr algn="just"/>
            <a:r>
              <a:rPr lang="en-IN" sz="4900" dirty="0">
                <a:latin typeface="Times New Roman" panose="02020603050405020304" pitchFamily="18" charset="0"/>
                <a:cs typeface="Times New Roman" panose="02020603050405020304" pitchFamily="18" charset="0"/>
              </a:rPr>
              <a:t>VOIS Course completion certificate  </a:t>
            </a:r>
            <a:br>
              <a:rPr lang="en-IN" sz="3200" dirty="0"/>
            </a:br>
            <a:br>
              <a:rPr lang="en-IN" sz="3200" dirty="0"/>
            </a:br>
            <a:br>
              <a:rPr lang="en-IN" sz="3200"/>
            </a:br>
            <a:r>
              <a:rPr lang="en-IN" sz="3200"/>
              <a:t>s</a:t>
            </a:r>
            <a:endParaRPr lang="en-IN" sz="3200" dirty="0"/>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C3D47B7C-7F73-4379-B406-DF3BC6FD7674}"/>
              </a:ext>
            </a:extLst>
          </p:cNvPr>
          <p:cNvSpPr txBox="1"/>
          <p:nvPr/>
        </p:nvSpPr>
        <p:spPr>
          <a:xfrm>
            <a:off x="3429000" y="1522770"/>
            <a:ext cx="6096000" cy="523220"/>
          </a:xfrm>
          <a:prstGeom prst="rect">
            <a:avLst/>
          </a:prstGeom>
          <a:noFill/>
        </p:spPr>
        <p:txBody>
          <a:bodyPr wrap="square">
            <a:spAutoFit/>
          </a:bodyPr>
          <a:lstStyle/>
          <a:p>
            <a:pPr algn="just"/>
            <a:r>
              <a:rPr lang="en-IN" sz="2800" dirty="0">
                <a:latin typeface="Times New Roman" panose="02020603050405020304" pitchFamily="18" charset="0"/>
                <a:cs typeface="Times New Roman" panose="02020603050405020304" pitchFamily="18" charset="0"/>
              </a:rPr>
              <a:t>Course name- Data Visualization </a:t>
            </a:r>
          </a:p>
        </p:txBody>
      </p:sp>
      <p:pic>
        <p:nvPicPr>
          <p:cNvPr id="6" name="Picture 5">
            <a:extLst>
              <a:ext uri="{FF2B5EF4-FFF2-40B4-BE49-F238E27FC236}">
                <a16:creationId xmlns:a16="http://schemas.microsoft.com/office/drawing/2014/main" id="{307C2C48-3B15-445E-8129-A4D49A788B68}"/>
              </a:ext>
            </a:extLst>
          </p:cNvPr>
          <p:cNvPicPr>
            <a:picLocks noChangeAspect="1"/>
          </p:cNvPicPr>
          <p:nvPr/>
        </p:nvPicPr>
        <p:blipFill>
          <a:blip r:embed="rId3"/>
          <a:stretch>
            <a:fillRect/>
          </a:stretch>
        </p:blipFill>
        <p:spPr>
          <a:xfrm>
            <a:off x="1733550" y="2409825"/>
            <a:ext cx="9208917" cy="384351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234750" y="1895475"/>
            <a:ext cx="11340000" cy="1475544"/>
          </a:xfrm>
          <a:prstGeom prst="rect">
            <a:avLst/>
          </a:prstGeom>
        </p:spPr>
        <p:txBody>
          <a:bodyPr anchor="ctr">
            <a:normAutofit/>
          </a:bodyPr>
          <a:lstStyle/>
          <a:p>
            <a:pPr algn="ctr"/>
            <a:r>
              <a:rPr lang="en-US" sz="4400" b="1" dirty="0">
                <a:solidFill>
                  <a:schemeClr val="tx1"/>
                </a:solidFill>
                <a:latin typeface="Times New Roman" panose="02020603050405020304" pitchFamily="18" charset="0"/>
                <a:cs typeface="Times New Roman" panose="02020603050405020304" pitchFamily="18"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1"/>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TM03090434[[fn=Wood Type]]</Template>
  <TotalTime>1461</TotalTime>
  <Words>1153</Words>
  <Application>Microsoft Office PowerPoint</Application>
  <PresentationFormat>Widescreen</PresentationFormat>
  <Paragraphs>76</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Rockwell</vt:lpstr>
      <vt:lpstr>Rockwell Condensed</vt:lpstr>
      <vt:lpstr>Times New Roman</vt:lpstr>
      <vt:lpstr>Wingdings</vt:lpstr>
      <vt:lpstr>Wingdings 3</vt:lpstr>
      <vt:lpstr>Wood Type</vt:lpstr>
      <vt:lpstr>Project Title –SEASONAL AGRICULTURAL PERFORMANCE ANALYSIS</vt:lpstr>
      <vt:lpstr>PROBLEM  STATEMENT</vt:lpstr>
      <vt:lpstr>Project description</vt:lpstr>
      <vt:lpstr>PowerPoint Presentation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Yojana Sherpa</cp:lastModifiedBy>
  <cp:revision>109</cp:revision>
  <dcterms:created xsi:type="dcterms:W3CDTF">2021-07-11T13:13:15Z</dcterms:created>
  <dcterms:modified xsi:type="dcterms:W3CDTF">2026-09-10T06:42:37Z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